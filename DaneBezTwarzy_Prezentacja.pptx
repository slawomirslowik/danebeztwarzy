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Dane Bez Twarzy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Automatyczna Anonimizacja Danych Osobowych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E6E6E6"/>
                </a:solidFill>
              </a:defRPr>
            </a:pPr>
            <a:r>
              <a:t>Python • RODO/GDPR • Open Source</a:t>
            </a:r>
          </a:p>
          <a:p>
            <a:pPr algn="ctr">
              <a:defRPr sz="1800">
                <a:solidFill>
                  <a:srgbClr val="E6E6E6"/>
                </a:solidFill>
              </a:defRPr>
            </a:pPr>
            <a:r>
              <a:t>Biblioteka + CLI + Standalone EXE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667EEA"/>
                </a:solidFill>
              </a:defRPr>
            </a:pPr>
            <a:r>
              <a:t>Problem i Rozwiązanie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2800" b="1">
                <a:solidFill>
                  <a:srgbClr val="333333"/>
                </a:solidFill>
              </a:defRPr>
            </a:pPr>
            <a:r>
              <a:t>Problem</a:t>
            </a:r>
          </a:p>
          <a:p>
            <a:pPr lvl="1">
              <a:spcAft>
                <a:spcPts val="800"/>
              </a:spcAft>
              <a:defRPr sz="1800"/>
            </a:pPr>
            <a:r>
              <a:t>Dane osobowe w dokumentach wymagają ochrony zgodnie z RODO/GDPR</a:t>
            </a:r>
          </a:p>
          <a:p>
            <a:pPr lvl="1">
              <a:spcAft>
                <a:spcPts val="800"/>
              </a:spcAft>
              <a:defRPr sz="1800"/>
            </a:pPr>
            <a:r>
              <a:t>Ręczna anonimizacja setek plików jest czasochłonna i błędogenna</a:t>
            </a:r>
          </a:p>
          <a:p>
            <a:pPr lvl="1">
              <a:spcAft>
                <a:spcPts val="800"/>
              </a:spcAft>
              <a:defRPr sz="1800"/>
            </a:pPr>
            <a:r>
              <a:t>Brak uniwersalnego narzędzia dla różnych formatów (DOCX, PDF, XLSX)</a:t>
            </a:r>
          </a:p>
          <a:p>
            <a:pPr>
              <a:spcBef>
                <a:spcPts val="2000"/>
              </a:spcBef>
              <a:spcAft>
                <a:spcPts val="1000"/>
              </a:spcAft>
              <a:defRPr sz="2800" b="1">
                <a:solidFill>
                  <a:srgbClr val="667EEA"/>
                </a:solidFill>
              </a:defRPr>
            </a:pPr>
            <a:r>
              <a:t>Rozwiązanie</a:t>
            </a:r>
          </a:p>
          <a:p>
            <a:pPr lvl="1">
              <a:spcAft>
                <a:spcPts val="800"/>
              </a:spcAft>
              <a:defRPr sz="1800"/>
            </a:pPr>
            <a:r>
              <a:t>Automatyczne wykrywanie 25+ typów danych osobowych</a:t>
            </a:r>
          </a:p>
          <a:p>
            <a:pPr lvl="1">
              <a:spcAft>
                <a:spcPts val="800"/>
              </a:spcAft>
              <a:defRPr sz="1800"/>
            </a:pPr>
            <a:r>
              <a:t>Wsparcie dla 5+ formatów plików (TXT, DOCX, PDF, XLSX, CSV)</a:t>
            </a:r>
          </a:p>
          <a:p>
            <a:pPr lvl="1">
              <a:spcAft>
                <a:spcPts val="800"/>
              </a:spcAft>
              <a:defRPr sz="1800"/>
            </a:pPr>
            <a:r>
              <a:t>3 interfejsy: Biblioteka Python, CLI, Standalone EXE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667EEA"/>
                </a:solidFill>
              </a:defRPr>
            </a:pPr>
            <a:r>
              <a:t>Architektura i Technologie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2400" b="1">
                <a:solidFill>
                  <a:srgbClr val="333333"/>
                </a:solidFill>
              </a:defRPr>
            </a:pPr>
            <a:r>
              <a:t>4 Detektory Działające Równolegle</a:t>
            </a:r>
          </a:p>
          <a:p>
            <a:pPr lvl="1">
              <a:spcAft>
                <a:spcPts val="600"/>
              </a:spcAft>
              <a:defRPr sz="1600"/>
            </a:pPr>
            <a:r>
              <a:t>PlaceholderDetector: Wykrywa [name], [email], [pesel] - pewność 1.0</a:t>
            </a:r>
          </a:p>
          <a:p>
            <a:pPr lvl="1">
              <a:spcAft>
                <a:spcPts val="600"/>
              </a:spcAft>
              <a:defRPr sz="1600"/>
            </a:pPr>
            <a:r>
              <a:t>RegexDetector: PESEL, NIP, email, telefon - pewność 0.8-0.95</a:t>
            </a:r>
          </a:p>
          <a:p>
            <a:pPr lvl="1">
              <a:spcAft>
                <a:spcPts val="600"/>
              </a:spcAft>
              <a:defRPr sz="1600"/>
            </a:pPr>
            <a:r>
              <a:t>PolishDetector: Polskie wzorce: adresy, kody pocztowe - pewność 0.7-0.9</a:t>
            </a:r>
          </a:p>
          <a:p>
            <a:pPr lvl="1">
              <a:spcAft>
                <a:spcPts val="600"/>
              </a:spcAft>
              <a:defRPr sz="1600"/>
            </a:pPr>
            <a:r>
              <a:t>NLPDetector: spaCy NER dla imion/nazwisk - pewność 0.6-0.95</a:t>
            </a:r>
          </a:p>
          <a:p>
            <a:pPr lvl="1">
              <a:spcAft>
                <a:spcPts val="600"/>
              </a:spcAft>
              <a:defRPr sz="1600"/>
            </a:pPr>
            <a:r>
              <a:t>LLMDetector: PLLUM (12B parametrów) - najwyższa dokładność</a:t>
            </a:r>
          </a:p>
          <a:p>
            <a:pPr>
              <a:spcBef>
                <a:spcPts val="2000"/>
              </a:spcBef>
              <a:spcAft>
                <a:spcPts val="1000"/>
              </a:spcAft>
              <a:defRPr sz="2400" b="1">
                <a:solidFill>
                  <a:srgbClr val="667EEA"/>
                </a:solidFill>
              </a:defRPr>
            </a:pPr>
            <a:r>
              <a:t>Stack Technologiczny</a:t>
            </a:r>
          </a:p>
          <a:p>
            <a:pPr lvl="1">
              <a:spcAft>
                <a:spcPts val="600"/>
              </a:spcAft>
              <a:defRPr sz="1600"/>
            </a:pPr>
            <a:r>
              <a:t>Python 3.12 • spaCy 3.7 • langchain-openai</a:t>
            </a:r>
          </a:p>
          <a:p>
            <a:pPr lvl="1">
              <a:spcAft>
                <a:spcPts val="600"/>
              </a:spcAft>
              <a:defRPr sz="1600"/>
            </a:pPr>
            <a:r>
              <a:t>PyPDF2, python-docx, openpyxl (procesory formatów)</a:t>
            </a:r>
          </a:p>
          <a:p>
            <a:pPr lvl="1">
              <a:spcAft>
                <a:spcPts val="600"/>
              </a:spcAft>
              <a:defRPr sz="1600"/>
            </a:pPr>
            <a:r>
              <a:t>matplotlib, plotly (wizualizacja raportów)</a:t>
            </a:r>
          </a:p>
          <a:p>
            <a:pPr lvl="1">
              <a:spcAft>
                <a:spcPts val="600"/>
              </a:spcAft>
              <a:defRPr sz="1600"/>
            </a:pPr>
            <a:r>
              <a:t>Nuitka (kompilacja do standalone EXE)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667EEA"/>
                </a:solidFill>
              </a:defRPr>
            </a:pPr>
            <a:r>
              <a:t>Kluczowe Funkcjonalności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6 Metod Anonimizacji</a:t>
            </a:r>
          </a:p>
          <a:p>
            <a:pPr lvl="1">
              <a:spcAft>
                <a:spcPts val="400"/>
              </a:spcAft>
              <a:defRPr sz="1500"/>
            </a:pPr>
            <a:r>
              <a:t>Maskowanie (***), Pseudonimizacja (Osoba_A)</a:t>
            </a:r>
          </a:p>
          <a:p>
            <a:pPr lvl="1">
              <a:spcAft>
                <a:spcPts val="400"/>
              </a:spcAft>
              <a:defRPr sz="1500"/>
            </a:pPr>
            <a:r>
              <a:t>Entity ([name] [surname]), Haszowanie, Szyfrowanie, Redakcja</a:t>
            </a:r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Przetwarzanie Wsadowe</a:t>
            </a:r>
          </a:p>
          <a:p>
            <a:pPr lvl="1">
              <a:spcAft>
                <a:spcPts val="400"/>
              </a:spcAft>
              <a:defRPr sz="1500"/>
            </a:pPr>
            <a:r>
              <a:t>Pojedyncze pliki lub całe katalogi (rekurencyjnie)</a:t>
            </a:r>
          </a:p>
          <a:p>
            <a:pPr lvl="1">
              <a:spcAft>
                <a:spcPts val="400"/>
              </a:spcAft>
              <a:defRPr sz="1500"/>
            </a:pPr>
            <a:r>
              <a:t>Wzorce plików: *.txt, *.docx, *.xlsx, *.pdf</a:t>
            </a:r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Raportowanie</a:t>
            </a:r>
          </a:p>
          <a:p>
            <a:pPr lvl="1">
              <a:spcAft>
                <a:spcPts val="400"/>
              </a:spcAft>
              <a:defRPr sz="1500"/>
            </a:pPr>
            <a:r>
              <a:t>3 formaty: JSON (dane), HTML (interaktywne wykresy), PDF (druk)</a:t>
            </a:r>
          </a:p>
          <a:p>
            <a:pPr lvl="1">
              <a:spcAft>
                <a:spcPts val="400"/>
              </a:spcAft>
              <a:defRPr sz="1500"/>
            </a:pPr>
            <a:r>
              <a:t>Statystyki: liczba encji, typy, pewność, czas wykonania</a:t>
            </a:r>
          </a:p>
          <a:p>
            <a:pPr lvl="1">
              <a:spcAft>
                <a:spcPts val="400"/>
              </a:spcAft>
              <a:defRPr sz="1500"/>
            </a:pPr>
            <a:r>
              <a:t>Automatyczna rotacja logów (5 × 10 MB)</a:t>
            </a:r>
          </a:p>
          <a:p>
            <a:pPr>
              <a:spcAft>
                <a:spcPts val="600"/>
              </a:spcAft>
              <a:defRPr sz="2000" b="1">
                <a:solidFill>
                  <a:srgbClr val="333333"/>
                </a:solidFill>
              </a:defRPr>
            </a:pPr>
            <a:r>
              <a:t>Chunking dla LLM</a:t>
            </a:r>
          </a:p>
          <a:p>
            <a:pPr lvl="1">
              <a:spcAft>
                <a:spcPts val="400"/>
              </a:spcAft>
              <a:defRPr sz="1500"/>
            </a:pPr>
            <a:r>
              <a:t>Automatyczny podział dużych plików (3000 znaków/fragment)</a:t>
            </a:r>
          </a:p>
          <a:p>
            <a:pPr lvl="1">
              <a:spcAft>
                <a:spcPts val="400"/>
              </a:spcAft>
              <a:defRPr sz="1500"/>
            </a:pPr>
            <a:r>
              <a:t>Nakładanie fragmentów (200 znaków) - eliminacja utraty kontekstu</a:t>
            </a:r>
          </a:p>
          <a:p>
            <a:pPr lvl="1">
              <a:spcAft>
                <a:spcPts val="400"/>
              </a:spcAft>
              <a:defRPr sz="1500"/>
            </a:pPr>
            <a:r>
              <a:t>Deduplikacja wykrytych encji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667EEA"/>
                </a:solidFill>
              </a:defRPr>
            </a:pPr>
            <a:r>
              <a:t>Demo i Wyniki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000"/>
              </a:spcAft>
              <a:defRPr sz="2400" b="1">
                <a:solidFill>
                  <a:srgbClr val="333333"/>
                </a:solidFill>
              </a:defRPr>
            </a:pPr>
            <a:r>
              <a:t>Przykład CLI</a:t>
            </a:r>
          </a:p>
          <a:p>
            <a:pPr>
              <a:spcBef>
                <a:spcPts val="10000"/>
              </a:spcBef>
              <a:spcAft>
                <a:spcPts val="1000"/>
              </a:spcAft>
              <a:defRPr sz="2400" b="1">
                <a:solidFill>
                  <a:srgbClr val="667EEA"/>
                </a:solidFill>
              </a:defRPr>
            </a:pPr>
            <a:r>
              <a:t>Osiągnięte Wyniki</a:t>
            </a:r>
          </a:p>
          <a:p>
            <a:pPr lvl="1">
              <a:spcAft>
                <a:spcPts val="600"/>
              </a:spcAft>
              <a:defRPr sz="1600"/>
            </a:pPr>
            <a:r>
              <a:t>✓ Wykryto 25+ typów danych osobowych (PESEL, NIP, email, telefon, imiona)</a:t>
            </a:r>
          </a:p>
          <a:p>
            <a:pPr lvl="1">
              <a:spcAft>
                <a:spcPts val="600"/>
              </a:spcAft>
              <a:defRPr sz="1600"/>
            </a:pPr>
            <a:r>
              <a:t>✓ Chunking LLM obsługuje pliki &gt;100 KB bez błędów 413/400</a:t>
            </a:r>
          </a:p>
          <a:p>
            <a:pPr lvl="1">
              <a:spcAft>
                <a:spcPts val="600"/>
              </a:spcAft>
              <a:defRPr sz="1600"/>
            </a:pPr>
            <a:r>
              <a:t>✓ Raport HTML z wykresami Plotly (interaktywny) i PDF (printable)</a:t>
            </a:r>
          </a:p>
          <a:p>
            <a:pPr lvl="1">
              <a:spcAft>
                <a:spcPts val="600"/>
              </a:spcAft>
              <a:defRPr sz="1600"/>
            </a:pPr>
            <a:r>
              <a:t>✓ Standalone EXE (~50 MB LITE, ~600 MB FULL z NLP)</a:t>
            </a:r>
          </a:p>
          <a:p>
            <a:pPr lvl="1">
              <a:spcAft>
                <a:spcPts val="600"/>
              </a:spcAft>
              <a:defRPr sz="1600"/>
            </a:pPr>
            <a:r>
              <a:t>✓ Format ENTITY zgodny z nask_train (orig.txt)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solidFill>
            <a:srgbClr val="282C34"/>
          </a:solidFill>
          <a:ln w="254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dane-bez-twarzy anonymize cv.docx -o cv_anon.docx \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--method entity --use-nlp --use-llm \</a:t>
            </a:r>
          </a:p>
          <a:p>
            <a:pPr>
              <a:defRPr sz="1400">
                <a:solidFill>
                  <a:srgbClr val="ABB2BF"/>
                </a:solidFill>
                <a:latin typeface="Consolas"/>
              </a:defRPr>
            </a:pPr>
            <a:r>
              <a:t>  --llm-api-key "klucz" --add-report raport --report-format all -v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69696"/>
                </a:solidFill>
              </a:defRPr>
            </a:pPr>
            <a:r>
              <a:t>GitHub: slawomirslowik/DaneBezTwarzy • Email: semantis@int.pl • Licencja: MIT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